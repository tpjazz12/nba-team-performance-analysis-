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7" r:id="rId15"/>
    <p:sldId id="278" r:id="rId16"/>
    <p:sldId id="270" r:id="rId17"/>
    <p:sldId id="279" r:id="rId18"/>
    <p:sldId id="274" r:id="rId19"/>
    <p:sldId id="271" r:id="rId20"/>
    <p:sldId id="272" r:id="rId21"/>
    <p:sldId id="273" r:id="rId22"/>
    <p:sldId id="276" r:id="rId23"/>
    <p:sldId id="27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66"/>
    <p:restoredTop sz="94694"/>
  </p:normalViewPr>
  <p:slideViewPr>
    <p:cSldViewPr snapToGrid="0">
      <p:cViewPr varScale="1">
        <p:scale>
          <a:sx n="90" d="100"/>
          <a:sy n="90" d="100"/>
        </p:scale>
        <p:origin x="240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71BB45-737C-49CD-8816-5CDEFFB4AAB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02EDB5B-44D2-4D61-B79B-709091DD00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NBA scheduling creates fatigue: long travel, back-to-back games, uneven rest.</a:t>
          </a:r>
          <a:endParaRPr lang="en-US"/>
        </a:p>
      </dgm:t>
    </dgm:pt>
    <dgm:pt modelId="{570758F4-AE7A-4EDB-B0C3-BE6637AE81D7}" type="parTrans" cxnId="{15935540-96AB-4F34-8B78-8BD4D756D12B}">
      <dgm:prSet/>
      <dgm:spPr/>
      <dgm:t>
        <a:bodyPr/>
        <a:lstStyle/>
        <a:p>
          <a:endParaRPr lang="en-US"/>
        </a:p>
      </dgm:t>
    </dgm:pt>
    <dgm:pt modelId="{11F23561-889F-4C91-8956-F1389E61FA34}" type="sibTrans" cxnId="{15935540-96AB-4F34-8B78-8BD4D756D12B}">
      <dgm:prSet/>
      <dgm:spPr/>
      <dgm:t>
        <a:bodyPr/>
        <a:lstStyle/>
        <a:p>
          <a:endParaRPr lang="en-US"/>
        </a:p>
      </dgm:t>
    </dgm:pt>
    <dgm:pt modelId="{A0E38D12-FA2B-49C8-B507-FDC2F85273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Goal: quantify</a:t>
          </a:r>
          <a:r>
            <a:rPr lang="en-US" b="0" i="0" baseline="0"/>
            <a:t> how rest days, travel distance, and schedule density affect performance.</a:t>
          </a:r>
          <a:endParaRPr lang="en-US"/>
        </a:p>
      </dgm:t>
    </dgm:pt>
    <dgm:pt modelId="{4405A6F4-EFCD-4B55-93BD-DDA582D85077}" type="parTrans" cxnId="{02011444-71D3-4E11-8253-5A7D71B30146}">
      <dgm:prSet/>
      <dgm:spPr/>
      <dgm:t>
        <a:bodyPr/>
        <a:lstStyle/>
        <a:p>
          <a:endParaRPr lang="en-US"/>
        </a:p>
      </dgm:t>
    </dgm:pt>
    <dgm:pt modelId="{3C672DFE-EBC8-44F6-8419-52F99CBF9FEE}" type="sibTrans" cxnId="{02011444-71D3-4E11-8253-5A7D71B30146}">
      <dgm:prSet/>
      <dgm:spPr/>
      <dgm:t>
        <a:bodyPr/>
        <a:lstStyle/>
        <a:p>
          <a:endParaRPr lang="en-US"/>
        </a:p>
      </dgm:t>
    </dgm:pt>
    <dgm:pt modelId="{7713987C-1525-4DB0-8CA9-83A7C766DB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Important for sports analytics: </a:t>
          </a:r>
          <a:r>
            <a:rPr lang="en-US" b="1" i="0" baseline="0"/>
            <a:t>fairness, load management, strategy</a:t>
          </a:r>
          <a:r>
            <a:rPr lang="en-US" b="0" i="0" baseline="0"/>
            <a:t>.</a:t>
          </a:r>
          <a:endParaRPr lang="en-US"/>
        </a:p>
      </dgm:t>
    </dgm:pt>
    <dgm:pt modelId="{CEFAB188-A420-46B9-B754-08B22AFB233C}" type="parTrans" cxnId="{BDF36AA9-B592-479C-99B6-E39BC7FE4520}">
      <dgm:prSet/>
      <dgm:spPr/>
      <dgm:t>
        <a:bodyPr/>
        <a:lstStyle/>
        <a:p>
          <a:endParaRPr lang="en-US"/>
        </a:p>
      </dgm:t>
    </dgm:pt>
    <dgm:pt modelId="{CA38F76A-D445-4880-AD95-062BD765693A}" type="sibTrans" cxnId="{BDF36AA9-B592-479C-99B6-E39BC7FE4520}">
      <dgm:prSet/>
      <dgm:spPr/>
      <dgm:t>
        <a:bodyPr/>
        <a:lstStyle/>
        <a:p>
          <a:endParaRPr lang="en-US"/>
        </a:p>
      </dgm:t>
    </dgm:pt>
    <dgm:pt modelId="{084B566A-9025-44C4-B74D-1C5C7241CA0F}" type="pres">
      <dgm:prSet presAssocID="{6C71BB45-737C-49CD-8816-5CDEFFB4AAB9}" presName="root" presStyleCnt="0">
        <dgm:presLayoutVars>
          <dgm:dir/>
          <dgm:resizeHandles val="exact"/>
        </dgm:presLayoutVars>
      </dgm:prSet>
      <dgm:spPr/>
    </dgm:pt>
    <dgm:pt modelId="{E2CB18AF-0710-4353-AECB-C9C001D5DF0E}" type="pres">
      <dgm:prSet presAssocID="{402EDB5B-44D2-4D61-B79B-709091DD00DC}" presName="compNode" presStyleCnt="0"/>
      <dgm:spPr/>
    </dgm:pt>
    <dgm:pt modelId="{74411744-6491-4D80-9CA6-01D3C629CDDA}" type="pres">
      <dgm:prSet presAssocID="{402EDB5B-44D2-4D61-B79B-709091DD00DC}" presName="bgRect" presStyleLbl="bgShp" presStyleIdx="0" presStyleCnt="3"/>
      <dgm:spPr/>
    </dgm:pt>
    <dgm:pt modelId="{1E109345-CF1A-418D-8B69-333D8C5BCD7F}" type="pres">
      <dgm:prSet presAssocID="{402EDB5B-44D2-4D61-B79B-709091DD00D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ketball"/>
        </a:ext>
      </dgm:extLst>
    </dgm:pt>
    <dgm:pt modelId="{7553150D-4B38-4DF3-BBB0-035831FBEBF9}" type="pres">
      <dgm:prSet presAssocID="{402EDB5B-44D2-4D61-B79B-709091DD00DC}" presName="spaceRect" presStyleCnt="0"/>
      <dgm:spPr/>
    </dgm:pt>
    <dgm:pt modelId="{9244C1BC-A298-4417-A690-DC1C405F3D80}" type="pres">
      <dgm:prSet presAssocID="{402EDB5B-44D2-4D61-B79B-709091DD00DC}" presName="parTx" presStyleLbl="revTx" presStyleIdx="0" presStyleCnt="3">
        <dgm:presLayoutVars>
          <dgm:chMax val="0"/>
          <dgm:chPref val="0"/>
        </dgm:presLayoutVars>
      </dgm:prSet>
      <dgm:spPr/>
    </dgm:pt>
    <dgm:pt modelId="{12A99326-C37F-4132-B340-003E07D9A106}" type="pres">
      <dgm:prSet presAssocID="{11F23561-889F-4C91-8956-F1389E61FA34}" presName="sibTrans" presStyleCnt="0"/>
      <dgm:spPr/>
    </dgm:pt>
    <dgm:pt modelId="{3EE545EA-F947-47E8-8A78-19850277239E}" type="pres">
      <dgm:prSet presAssocID="{A0E38D12-FA2B-49C8-B507-FDC2F85273F9}" presName="compNode" presStyleCnt="0"/>
      <dgm:spPr/>
    </dgm:pt>
    <dgm:pt modelId="{C99988B4-F51C-41AE-91B6-2ACAA48DC781}" type="pres">
      <dgm:prSet presAssocID="{A0E38D12-FA2B-49C8-B507-FDC2F85273F9}" presName="bgRect" presStyleLbl="bgShp" presStyleIdx="1" presStyleCnt="3" custLinFactNeighborX="1584" custLinFactNeighborY="46"/>
      <dgm:spPr/>
    </dgm:pt>
    <dgm:pt modelId="{BCF763A3-C5B2-48AA-814B-2E27BE28A2CC}" type="pres">
      <dgm:prSet presAssocID="{A0E38D12-FA2B-49C8-B507-FDC2F85273F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AF9CBA16-A258-4D03-8330-6911369C7185}" type="pres">
      <dgm:prSet presAssocID="{A0E38D12-FA2B-49C8-B507-FDC2F85273F9}" presName="spaceRect" presStyleCnt="0"/>
      <dgm:spPr/>
    </dgm:pt>
    <dgm:pt modelId="{FCC8B07C-8F71-4078-BE0E-75FEFF3156EC}" type="pres">
      <dgm:prSet presAssocID="{A0E38D12-FA2B-49C8-B507-FDC2F85273F9}" presName="parTx" presStyleLbl="revTx" presStyleIdx="1" presStyleCnt="3">
        <dgm:presLayoutVars>
          <dgm:chMax val="0"/>
          <dgm:chPref val="0"/>
        </dgm:presLayoutVars>
      </dgm:prSet>
      <dgm:spPr/>
    </dgm:pt>
    <dgm:pt modelId="{3B66A5E5-758A-4A70-BF00-64036A270A38}" type="pres">
      <dgm:prSet presAssocID="{3C672DFE-EBC8-44F6-8419-52F99CBF9FEE}" presName="sibTrans" presStyleCnt="0"/>
      <dgm:spPr/>
    </dgm:pt>
    <dgm:pt modelId="{5ADE9216-CB87-4ECF-ADAC-A243A64D8786}" type="pres">
      <dgm:prSet presAssocID="{7713987C-1525-4DB0-8CA9-83A7C766DB5A}" presName="compNode" presStyleCnt="0"/>
      <dgm:spPr/>
    </dgm:pt>
    <dgm:pt modelId="{B5586C55-F884-4344-A981-48863568A7D5}" type="pres">
      <dgm:prSet presAssocID="{7713987C-1525-4DB0-8CA9-83A7C766DB5A}" presName="bgRect" presStyleLbl="bgShp" presStyleIdx="2" presStyleCnt="3"/>
      <dgm:spPr/>
    </dgm:pt>
    <dgm:pt modelId="{2E43457D-7186-45F7-B0B6-F49AAFB37D3D}" type="pres">
      <dgm:prSet presAssocID="{7713987C-1525-4DB0-8CA9-83A7C766DB5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ort Balls"/>
        </a:ext>
      </dgm:extLst>
    </dgm:pt>
    <dgm:pt modelId="{5D055802-83E5-458A-BAEE-CD555018198B}" type="pres">
      <dgm:prSet presAssocID="{7713987C-1525-4DB0-8CA9-83A7C766DB5A}" presName="spaceRect" presStyleCnt="0"/>
      <dgm:spPr/>
    </dgm:pt>
    <dgm:pt modelId="{E7AA9B26-FE1D-4706-8ACE-6403C7CE0F79}" type="pres">
      <dgm:prSet presAssocID="{7713987C-1525-4DB0-8CA9-83A7C766DB5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9B2F221-C3FD-463A-967D-403837FD2981}" type="presOf" srcId="{A0E38D12-FA2B-49C8-B507-FDC2F85273F9}" destId="{FCC8B07C-8F71-4078-BE0E-75FEFF3156EC}" srcOrd="0" destOrd="0" presId="urn:microsoft.com/office/officeart/2018/2/layout/IconVerticalSolidList"/>
    <dgm:cxn modelId="{15935540-96AB-4F34-8B78-8BD4D756D12B}" srcId="{6C71BB45-737C-49CD-8816-5CDEFFB4AAB9}" destId="{402EDB5B-44D2-4D61-B79B-709091DD00DC}" srcOrd="0" destOrd="0" parTransId="{570758F4-AE7A-4EDB-B0C3-BE6637AE81D7}" sibTransId="{11F23561-889F-4C91-8956-F1389E61FA34}"/>
    <dgm:cxn modelId="{02011444-71D3-4E11-8253-5A7D71B30146}" srcId="{6C71BB45-737C-49CD-8816-5CDEFFB4AAB9}" destId="{A0E38D12-FA2B-49C8-B507-FDC2F85273F9}" srcOrd="1" destOrd="0" parTransId="{4405A6F4-EFCD-4B55-93BD-DDA582D85077}" sibTransId="{3C672DFE-EBC8-44F6-8419-52F99CBF9FEE}"/>
    <dgm:cxn modelId="{8CE20B9C-DA08-4364-A00E-14C3EE8F0F3D}" type="presOf" srcId="{6C71BB45-737C-49CD-8816-5CDEFFB4AAB9}" destId="{084B566A-9025-44C4-B74D-1C5C7241CA0F}" srcOrd="0" destOrd="0" presId="urn:microsoft.com/office/officeart/2018/2/layout/IconVerticalSolidList"/>
    <dgm:cxn modelId="{797BE6A0-3881-4E3C-9307-BB160D76C817}" type="presOf" srcId="{402EDB5B-44D2-4D61-B79B-709091DD00DC}" destId="{9244C1BC-A298-4417-A690-DC1C405F3D80}" srcOrd="0" destOrd="0" presId="urn:microsoft.com/office/officeart/2018/2/layout/IconVerticalSolidList"/>
    <dgm:cxn modelId="{BDF36AA9-B592-479C-99B6-E39BC7FE4520}" srcId="{6C71BB45-737C-49CD-8816-5CDEFFB4AAB9}" destId="{7713987C-1525-4DB0-8CA9-83A7C766DB5A}" srcOrd="2" destOrd="0" parTransId="{CEFAB188-A420-46B9-B754-08B22AFB233C}" sibTransId="{CA38F76A-D445-4880-AD95-062BD765693A}"/>
    <dgm:cxn modelId="{F937EEC8-E2EA-4F26-A561-3519C4779AD5}" type="presOf" srcId="{7713987C-1525-4DB0-8CA9-83A7C766DB5A}" destId="{E7AA9B26-FE1D-4706-8ACE-6403C7CE0F79}" srcOrd="0" destOrd="0" presId="urn:microsoft.com/office/officeart/2018/2/layout/IconVerticalSolidList"/>
    <dgm:cxn modelId="{AA96FCB1-06C0-4790-85BB-2D1C675C2CFB}" type="presParOf" srcId="{084B566A-9025-44C4-B74D-1C5C7241CA0F}" destId="{E2CB18AF-0710-4353-AECB-C9C001D5DF0E}" srcOrd="0" destOrd="0" presId="urn:microsoft.com/office/officeart/2018/2/layout/IconVerticalSolidList"/>
    <dgm:cxn modelId="{1F75D638-18AE-4EC8-85AE-7F86169569E7}" type="presParOf" srcId="{E2CB18AF-0710-4353-AECB-C9C001D5DF0E}" destId="{74411744-6491-4D80-9CA6-01D3C629CDDA}" srcOrd="0" destOrd="0" presId="urn:microsoft.com/office/officeart/2018/2/layout/IconVerticalSolidList"/>
    <dgm:cxn modelId="{5125E251-B523-4069-87CF-7BEC5A937AD8}" type="presParOf" srcId="{E2CB18AF-0710-4353-AECB-C9C001D5DF0E}" destId="{1E109345-CF1A-418D-8B69-333D8C5BCD7F}" srcOrd="1" destOrd="0" presId="urn:microsoft.com/office/officeart/2018/2/layout/IconVerticalSolidList"/>
    <dgm:cxn modelId="{E71C2B8B-2FFD-4FAB-9878-05AE19446EB9}" type="presParOf" srcId="{E2CB18AF-0710-4353-AECB-C9C001D5DF0E}" destId="{7553150D-4B38-4DF3-BBB0-035831FBEBF9}" srcOrd="2" destOrd="0" presId="urn:microsoft.com/office/officeart/2018/2/layout/IconVerticalSolidList"/>
    <dgm:cxn modelId="{B9C9A244-8FB0-44C9-8ED8-23D01C2EE8CA}" type="presParOf" srcId="{E2CB18AF-0710-4353-AECB-C9C001D5DF0E}" destId="{9244C1BC-A298-4417-A690-DC1C405F3D80}" srcOrd="3" destOrd="0" presId="urn:microsoft.com/office/officeart/2018/2/layout/IconVerticalSolidList"/>
    <dgm:cxn modelId="{2800AA56-6A85-4D05-B4B0-4E487864BE6D}" type="presParOf" srcId="{084B566A-9025-44C4-B74D-1C5C7241CA0F}" destId="{12A99326-C37F-4132-B340-003E07D9A106}" srcOrd="1" destOrd="0" presId="urn:microsoft.com/office/officeart/2018/2/layout/IconVerticalSolidList"/>
    <dgm:cxn modelId="{1340E532-A010-4280-8296-DDBB0A5D792E}" type="presParOf" srcId="{084B566A-9025-44C4-B74D-1C5C7241CA0F}" destId="{3EE545EA-F947-47E8-8A78-19850277239E}" srcOrd="2" destOrd="0" presId="urn:microsoft.com/office/officeart/2018/2/layout/IconVerticalSolidList"/>
    <dgm:cxn modelId="{AA1ACF0A-9C46-4C17-AA72-E5817A9CBEB9}" type="presParOf" srcId="{3EE545EA-F947-47E8-8A78-19850277239E}" destId="{C99988B4-F51C-41AE-91B6-2ACAA48DC781}" srcOrd="0" destOrd="0" presId="urn:microsoft.com/office/officeart/2018/2/layout/IconVerticalSolidList"/>
    <dgm:cxn modelId="{8609E637-FA45-4BF6-A802-BBF89E5FF702}" type="presParOf" srcId="{3EE545EA-F947-47E8-8A78-19850277239E}" destId="{BCF763A3-C5B2-48AA-814B-2E27BE28A2CC}" srcOrd="1" destOrd="0" presId="urn:microsoft.com/office/officeart/2018/2/layout/IconVerticalSolidList"/>
    <dgm:cxn modelId="{DA494569-AA47-4356-B6AE-AFFC1FEF3558}" type="presParOf" srcId="{3EE545EA-F947-47E8-8A78-19850277239E}" destId="{AF9CBA16-A258-4D03-8330-6911369C7185}" srcOrd="2" destOrd="0" presId="urn:microsoft.com/office/officeart/2018/2/layout/IconVerticalSolidList"/>
    <dgm:cxn modelId="{C36A216A-8993-4303-ABC4-AA82E7F56CC7}" type="presParOf" srcId="{3EE545EA-F947-47E8-8A78-19850277239E}" destId="{FCC8B07C-8F71-4078-BE0E-75FEFF3156EC}" srcOrd="3" destOrd="0" presId="urn:microsoft.com/office/officeart/2018/2/layout/IconVerticalSolidList"/>
    <dgm:cxn modelId="{1059AB52-8506-4C42-903E-E91C67FDC11B}" type="presParOf" srcId="{084B566A-9025-44C4-B74D-1C5C7241CA0F}" destId="{3B66A5E5-758A-4A70-BF00-64036A270A38}" srcOrd="3" destOrd="0" presId="urn:microsoft.com/office/officeart/2018/2/layout/IconVerticalSolidList"/>
    <dgm:cxn modelId="{4B895D44-084B-4456-8369-CFA319733F72}" type="presParOf" srcId="{084B566A-9025-44C4-B74D-1C5C7241CA0F}" destId="{5ADE9216-CB87-4ECF-ADAC-A243A64D8786}" srcOrd="4" destOrd="0" presId="urn:microsoft.com/office/officeart/2018/2/layout/IconVerticalSolidList"/>
    <dgm:cxn modelId="{7B4704AB-24B5-4083-AD50-50E0A7B827DF}" type="presParOf" srcId="{5ADE9216-CB87-4ECF-ADAC-A243A64D8786}" destId="{B5586C55-F884-4344-A981-48863568A7D5}" srcOrd="0" destOrd="0" presId="urn:microsoft.com/office/officeart/2018/2/layout/IconVerticalSolidList"/>
    <dgm:cxn modelId="{ABD0EA6C-2990-45DB-A85C-90191FE21DB8}" type="presParOf" srcId="{5ADE9216-CB87-4ECF-ADAC-A243A64D8786}" destId="{2E43457D-7186-45F7-B0B6-F49AAFB37D3D}" srcOrd="1" destOrd="0" presId="urn:microsoft.com/office/officeart/2018/2/layout/IconVerticalSolidList"/>
    <dgm:cxn modelId="{75B117C0-E635-4821-96F1-35FD1483892F}" type="presParOf" srcId="{5ADE9216-CB87-4ECF-ADAC-A243A64D8786}" destId="{5D055802-83E5-458A-BAEE-CD555018198B}" srcOrd="2" destOrd="0" presId="urn:microsoft.com/office/officeart/2018/2/layout/IconVerticalSolidList"/>
    <dgm:cxn modelId="{1D95DC95-525E-4B7B-AD74-16F8BD645AFD}" type="presParOf" srcId="{5ADE9216-CB87-4ECF-ADAC-A243A64D8786}" destId="{E7AA9B26-FE1D-4706-8ACE-6403C7CE0F7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411744-6491-4D80-9CA6-01D3C629CDDA}">
      <dsp:nvSpPr>
        <dsp:cNvPr id="0" name=""/>
        <dsp:cNvSpPr/>
      </dsp:nvSpPr>
      <dsp:spPr>
        <a:xfrm>
          <a:off x="0" y="706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109345-CF1A-418D-8B69-333D8C5BCD7F}">
      <dsp:nvSpPr>
        <dsp:cNvPr id="0" name=""/>
        <dsp:cNvSpPr/>
      </dsp:nvSpPr>
      <dsp:spPr>
        <a:xfrm>
          <a:off x="500008" y="372613"/>
          <a:ext cx="909106" cy="9091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44C1BC-A298-4417-A690-DC1C405F3D80}">
      <dsp:nvSpPr>
        <dsp:cNvPr id="0" name=""/>
        <dsp:cNvSpPr/>
      </dsp:nvSpPr>
      <dsp:spPr>
        <a:xfrm>
          <a:off x="1909124" y="706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NBA scheduling creates fatigue: long travel, back-to-back games, uneven rest.</a:t>
          </a:r>
          <a:endParaRPr lang="en-US" sz="2500" kern="1200"/>
        </a:p>
      </dsp:txBody>
      <dsp:txXfrm>
        <a:off x="1909124" y="706"/>
        <a:ext cx="5040315" cy="1652921"/>
      </dsp:txXfrm>
    </dsp:sp>
    <dsp:sp modelId="{C99988B4-F51C-41AE-91B6-2ACAA48DC781}">
      <dsp:nvSpPr>
        <dsp:cNvPr id="0" name=""/>
        <dsp:cNvSpPr/>
      </dsp:nvSpPr>
      <dsp:spPr>
        <a:xfrm>
          <a:off x="0" y="2067618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F763A3-C5B2-48AA-814B-2E27BE28A2CC}">
      <dsp:nvSpPr>
        <dsp:cNvPr id="0" name=""/>
        <dsp:cNvSpPr/>
      </dsp:nvSpPr>
      <dsp:spPr>
        <a:xfrm>
          <a:off x="500008" y="2438765"/>
          <a:ext cx="909106" cy="9091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C8B07C-8F71-4078-BE0E-75FEFF3156EC}">
      <dsp:nvSpPr>
        <dsp:cNvPr id="0" name=""/>
        <dsp:cNvSpPr/>
      </dsp:nvSpPr>
      <dsp:spPr>
        <a:xfrm>
          <a:off x="1909124" y="2066858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Goal: quantify</a:t>
          </a:r>
          <a:r>
            <a:rPr lang="en-US" sz="2500" b="0" i="0" kern="1200" baseline="0"/>
            <a:t> how rest days, travel distance, and schedule density affect performance.</a:t>
          </a:r>
          <a:endParaRPr lang="en-US" sz="2500" kern="1200"/>
        </a:p>
      </dsp:txBody>
      <dsp:txXfrm>
        <a:off x="1909124" y="2066858"/>
        <a:ext cx="5040315" cy="1652921"/>
      </dsp:txXfrm>
    </dsp:sp>
    <dsp:sp modelId="{B5586C55-F884-4344-A981-48863568A7D5}">
      <dsp:nvSpPr>
        <dsp:cNvPr id="0" name=""/>
        <dsp:cNvSpPr/>
      </dsp:nvSpPr>
      <dsp:spPr>
        <a:xfrm>
          <a:off x="0" y="4133010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43457D-7186-45F7-B0B6-F49AAFB37D3D}">
      <dsp:nvSpPr>
        <dsp:cNvPr id="0" name=""/>
        <dsp:cNvSpPr/>
      </dsp:nvSpPr>
      <dsp:spPr>
        <a:xfrm>
          <a:off x="500008" y="4504917"/>
          <a:ext cx="909106" cy="9091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AA9B26-FE1D-4706-8ACE-6403C7CE0F79}">
      <dsp:nvSpPr>
        <dsp:cNvPr id="0" name=""/>
        <dsp:cNvSpPr/>
      </dsp:nvSpPr>
      <dsp:spPr>
        <a:xfrm>
          <a:off x="1909124" y="4133010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Important for sports analytics: </a:t>
          </a:r>
          <a:r>
            <a:rPr lang="en-US" sz="2500" b="1" i="0" kern="1200" baseline="0"/>
            <a:t>fairness, load management, strategy</a:t>
          </a:r>
          <a:r>
            <a:rPr lang="en-US" sz="2500" b="0" i="0" kern="1200" baseline="0"/>
            <a:t>.</a:t>
          </a:r>
          <a:endParaRPr lang="en-US" sz="2500" kern="1200"/>
        </a:p>
      </dsp:txBody>
      <dsp:txXfrm>
        <a:off x="1909124" y="4133010"/>
        <a:ext cx="5040315" cy="16529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1CF2A5-C58F-7541-86CF-15B52C342B51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E8C9D0-85DC-4E4F-9958-DCD621D41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289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Average B2B games slightly changed between 2023–24 and 2024–25.</a:t>
            </a:r>
          </a:p>
          <a:p>
            <a:r>
              <a:rPr lang="en-US"/>
              <a:t>Teams vary significantly in total B2B load.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8C9D0-85DC-4E4F-9958-DCD621D41F5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765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 rest days ~2–3</a:t>
            </a:r>
          </a:p>
          <a:p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teams averaged higher rest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8C9D0-85DC-4E4F-9958-DCD621D41F5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726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Why Overfitting Occurred</a:t>
            </a:r>
            <a:endParaRPr lang="en-US"/>
          </a:p>
          <a:p>
            <a:r>
              <a:rPr lang="en-US"/>
              <a:t>Too many correlated predictors</a:t>
            </a:r>
          </a:p>
          <a:p>
            <a:r>
              <a:rPr lang="en-US"/>
              <a:t>Very strong performance stats overpower schedule factors</a:t>
            </a:r>
          </a:p>
          <a:p>
            <a:r>
              <a:rPr lang="en-US"/>
              <a:t>Residual diagnostics confirm unrealistic fit (as seen in Q-Q plot &amp; fitted residuals)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8C9D0-85DC-4E4F-9958-DCD621D41F5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779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Sensitivity : 0.7915          
            Specificity : 0.7842          
         Pos Pred Value : 0.7926          
         Neg Pred Value : 0.7831          
             Prevalence : 0.5102          
         Detection Rate : 0.4038          
   Detection Prevalence : 0.5095          
      Balanced Accuracy : 0.7879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8C9D0-85DC-4E4F-9958-DCD621D41F5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85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8C9D0-85DC-4E4F-9958-DCD621D41F5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8543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Ridge and Lasso reduce overfitting by </a:t>
            </a:r>
            <a:r>
              <a:rPr lang="en-US" b="1"/>
              <a:t>shrinking coefficients</a:t>
            </a:r>
            <a:endParaRPr lang="en-US"/>
          </a:p>
          <a:p>
            <a:r>
              <a:rPr lang="en-US"/>
              <a:t>Lasso simplifies the model by forcing weaker predictors toward </a:t>
            </a:r>
            <a:r>
              <a:rPr lang="en-US" b="1"/>
              <a:t>zero</a:t>
            </a:r>
            <a:endParaRPr lang="en-US"/>
          </a:p>
          <a:p>
            <a:r>
              <a:rPr lang="en-US"/>
              <a:t>Both models identify shooting efficiency &amp; rebounding as dominant predictors</a:t>
            </a:r>
          </a:p>
          <a:p>
            <a:r>
              <a:rPr lang="en-US"/>
              <a:t>Regularization creates a </a:t>
            </a:r>
            <a:r>
              <a:rPr lang="en-US" b="1"/>
              <a:t>more stable and generalizable</a:t>
            </a:r>
            <a:r>
              <a:rPr lang="en-US"/>
              <a:t> win probability model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8C9D0-85DC-4E4F-9958-DCD621D41F5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6242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8C9D0-85DC-4E4F-9958-DCD621D41F5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2080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Overall, this framework can be useful for future NBA scheduling research and fairness evaluations, because it connects game performance with the actual conditions teams face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8C9D0-85DC-4E4F-9958-DCD621D41F5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2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8C9D0-85DC-4E4F-9958-DCD621D41F5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77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76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666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589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40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24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295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439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82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122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85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979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383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6" r:id="rId2"/>
    <p:sldLayoutId id="2147483705" r:id="rId3"/>
    <p:sldLayoutId id="2147483704" r:id="rId4"/>
    <p:sldLayoutId id="2147483703" r:id="rId5"/>
    <p:sldLayoutId id="2147483702" r:id="rId6"/>
    <p:sldLayoutId id="2147483701" r:id="rId7"/>
    <p:sldLayoutId id="2147483700" r:id="rId8"/>
    <p:sldLayoutId id="2147483699" r:id="rId9"/>
    <p:sldLayoutId id="2147483698" r:id="rId10"/>
    <p:sldLayoutId id="214748369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7A642772-2521-3FAB-B405-4D9468237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76D2B-27EF-2B10-50CF-EA2732B0F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05194" y="-487909"/>
            <a:ext cx="5598694" cy="3916909"/>
          </a:xfrm>
        </p:spPr>
        <p:txBody>
          <a:bodyPr>
            <a:normAutofit/>
          </a:bodyPr>
          <a:lstStyle/>
          <a:p>
            <a:pPr algn="l"/>
            <a:r>
              <a:rPr lang="en-US" sz="4800"/>
              <a:t>NBA TEAM PERFORMANCE ANALYSIS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029462-C6EA-7FAB-39D8-C71A8DD5BB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05194" y="3916909"/>
            <a:ext cx="5598694" cy="2230665"/>
          </a:xfrm>
        </p:spPr>
        <p:txBody>
          <a:bodyPr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b="1"/>
              <a:t>ASDS-6301 — Advanced Regression</a:t>
            </a:r>
          </a:p>
          <a:p>
            <a:pPr algn="l">
              <a:lnSpc>
                <a:spcPct val="110000"/>
              </a:lnSpc>
            </a:pPr>
            <a:r>
              <a:rPr lang="en-US"/>
              <a:t>· Phuong Trinh </a:t>
            </a:r>
          </a:p>
          <a:p>
            <a:pPr algn="l">
              <a:lnSpc>
                <a:spcPct val="110000"/>
              </a:lnSpc>
            </a:pPr>
            <a:r>
              <a:rPr lang="en-US"/>
              <a:t>· Sashi Kumar Soni </a:t>
            </a:r>
          </a:p>
          <a:p>
            <a:pPr algn="l">
              <a:lnSpc>
                <a:spcPct val="110000"/>
              </a:lnSpc>
            </a:pPr>
            <a:r>
              <a:rPr lang="en-US"/>
              <a:t>· Ahmet Toure</a:t>
            </a:r>
          </a:p>
        </p:txBody>
      </p:sp>
      <p:pic>
        <p:nvPicPr>
          <p:cNvPr id="1026" name="Picture 2" descr="National Basketball Association - Wikipedia">
            <a:extLst>
              <a:ext uri="{FF2B5EF4-FFF2-40B4-BE49-F238E27FC236}">
                <a16:creationId xmlns:a16="http://schemas.microsoft.com/office/drawing/2014/main" id="{7ABDAF03-8687-811F-5186-8A7B69776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78570" y="646981"/>
            <a:ext cx="2448175" cy="5564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1394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5D90C0-EE5B-EFAB-EE84-6BD271530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Background 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3202ACE-4030-02B1-3518-BD189B0E1E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0350549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3688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5" name="Rectangle 3084">
            <a:extLst>
              <a:ext uri="{FF2B5EF4-FFF2-40B4-BE49-F238E27FC236}">
                <a16:creationId xmlns:a16="http://schemas.microsoft.com/office/drawing/2014/main" id="{BF8BE9A2-8956-141B-BFE6-C607C93D8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35B921-FF16-7D31-B558-18AE200B6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45" y="4557776"/>
            <a:ext cx="4705097" cy="1615684"/>
          </a:xfrm>
        </p:spPr>
        <p:txBody>
          <a:bodyPr>
            <a:normAutofit/>
          </a:bodyPr>
          <a:lstStyle/>
          <a:p>
            <a:r>
              <a:rPr lang="en-US"/>
              <a:t>Research Question </a:t>
            </a:r>
          </a:p>
        </p:txBody>
      </p:sp>
      <p:pic>
        <p:nvPicPr>
          <p:cNvPr id="3077" name="Picture 5" descr="Nba Court Images – Browse 10,915 Stock Photos, Vectors, and Video | Adobe  Stock">
            <a:extLst>
              <a:ext uri="{FF2B5EF4-FFF2-40B4-BE49-F238E27FC236}">
                <a16:creationId xmlns:a16="http://schemas.microsoft.com/office/drawing/2014/main" id="{6067B403-FBB5-1803-3F5F-34450B899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29" b="17115"/>
          <a:stretch>
            <a:fillRect/>
          </a:stretch>
        </p:blipFill>
        <p:spPr bwMode="auto">
          <a:xfrm>
            <a:off x="0" y="-529380"/>
            <a:ext cx="12191980" cy="4557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80FE090-A13C-C5D0-7998-0B0FA43C86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04187" y="4331368"/>
            <a:ext cx="6738268" cy="20694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How do 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travel distance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and 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rest days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affect Win% and efficiency?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Do 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back-to-back games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reduce performance?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How does 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home-court advantage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interact with fatigue?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Which regression model best explains win probability?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(Multiple Linear, Ridge, Lasso, Mixed-Effects)</a:t>
            </a:r>
          </a:p>
        </p:txBody>
      </p:sp>
    </p:spTree>
    <p:extLst>
      <p:ext uri="{BB962C8B-B14F-4D97-AF65-F5344CB8AC3E}">
        <p14:creationId xmlns:p14="http://schemas.microsoft.com/office/powerpoint/2010/main" val="95929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B760FC-2457-F6FF-1080-3E32EB1CB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98768"/>
            <a:ext cx="5862396" cy="1527048"/>
          </a:xfrm>
        </p:spPr>
        <p:txBody>
          <a:bodyPr anchor="b">
            <a:normAutofit/>
          </a:bodyPr>
          <a:lstStyle/>
          <a:p>
            <a:r>
              <a:rPr lang="en-US"/>
              <a:t>Data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C2BFC-90FA-D6FE-B3BB-5A355B533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7006090" cy="40965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/>
              <a:t>Python (NBA API → CSV) → R (Cleaning, EDA, Modeling)</a:t>
            </a:r>
            <a:endParaRPr lang="en-US" sz="2400"/>
          </a:p>
          <a:p>
            <a:r>
              <a:rPr lang="en-US" sz="2400"/>
              <a:t>Team game logs (2023–2025 seasons).</a:t>
            </a:r>
          </a:p>
          <a:p>
            <a:r>
              <a:rPr lang="en-US" sz="2400"/>
              <a:t>Derived variables: </a:t>
            </a:r>
            <a:r>
              <a:rPr lang="en-US" sz="2400" err="1"/>
              <a:t>Rest_Days</a:t>
            </a:r>
            <a:r>
              <a:rPr lang="en-US" sz="2400"/>
              <a:t>, </a:t>
            </a:r>
            <a:r>
              <a:rPr lang="en-US" sz="2400" err="1"/>
              <a:t>Back_to_Back</a:t>
            </a:r>
            <a:r>
              <a:rPr lang="en-US" sz="2400"/>
              <a:t>, </a:t>
            </a:r>
            <a:r>
              <a:rPr lang="en-US" sz="2400" err="1"/>
              <a:t>Travel_Distance</a:t>
            </a:r>
            <a:r>
              <a:rPr lang="en-US" sz="2400"/>
              <a:t>.</a:t>
            </a:r>
          </a:p>
          <a:p>
            <a:r>
              <a:rPr lang="en-US" sz="2400"/>
              <a:t>Final dataset: </a:t>
            </a:r>
            <a:r>
              <a:rPr lang="en-US" sz="2400" b="1"/>
              <a:t>4,920 games × 41 variables</a:t>
            </a:r>
            <a:r>
              <a:rPr lang="en-US" sz="2400"/>
              <a:t>.</a:t>
            </a:r>
          </a:p>
          <a:p>
            <a:endParaRPr lang="en-US" sz="1800"/>
          </a:p>
        </p:txBody>
      </p:sp>
      <p:pic>
        <p:nvPicPr>
          <p:cNvPr id="5" name="Picture 4" descr="A diagram of a cleaning process&#10;&#10;AI-generated content may be incorrect.">
            <a:extLst>
              <a:ext uri="{FF2B5EF4-FFF2-40B4-BE49-F238E27FC236}">
                <a16:creationId xmlns:a16="http://schemas.microsoft.com/office/drawing/2014/main" id="{E6303EB4-E2CB-2609-D670-04EA3BA13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738" y="433384"/>
            <a:ext cx="3626820" cy="601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214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2692CE-F111-E2DC-E92A-80C2434BB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854" y="873249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/>
              <a:t>Data Preprocessing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BD5C5A-3C0B-DC19-FC98-C092187BE7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8" y="2584058"/>
            <a:ext cx="4621553" cy="315901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Handled missing values for travel + previous location.</a:t>
            </a:r>
            <a:endParaRPr lang="en-US" altLang="en-US" sz="1800" b="0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Removed 0 duplicates.</a:t>
            </a:r>
            <a:endParaRPr lang="en-US" altLang="en-US" sz="1800" b="0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marL="0" inden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800">
                <a:latin typeface="Arial"/>
                <a:cs typeface="Arial"/>
              </a:rPr>
              <a:t>Outlier was detected using IQR, handling using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 </a:t>
            </a:r>
            <a:r>
              <a:rPr kumimoji="0" lang="en-US" altLang="en-US" sz="1800" b="1" i="0" u="none" strike="noStrike" cap="none" normalizeH="0" baseline="0" err="1">
                <a:ln>
                  <a:noFill/>
                </a:ln>
                <a:effectLst/>
                <a:latin typeface="Arial"/>
                <a:cs typeface="Arial"/>
              </a:rPr>
              <a:t>Winsorization</a:t>
            </a:r>
            <a:r>
              <a:rPr lang="en-US" altLang="en-US" sz="1800">
                <a:latin typeface="Arial"/>
                <a:cs typeface="Arial"/>
              </a:rPr>
              <a:t>.</a:t>
            </a:r>
            <a:endParaRPr lang="en-US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Arial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US" altLang="en-US" sz="1800">
                <a:latin typeface="Arial"/>
                <a:cs typeface="Arial"/>
              </a:rPr>
              <a:t>Normalizing and Scaling Data </a:t>
            </a:r>
            <a:endParaRPr lang="en-US" altLang="en-US" sz="1800" b="0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</p:txBody>
      </p:sp>
      <p:pic>
        <p:nvPicPr>
          <p:cNvPr id="8" name="Picture 7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23A64CA6-F17D-0681-2458-D232419B0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262" y="1553613"/>
            <a:ext cx="5835083" cy="374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694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143B0F-6615-D152-FE64-F55788E0F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1" y="501345"/>
            <a:ext cx="8728364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/>
              <a:t>Exploratory Data Analysis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B44EFEB-8789-3704-D2F4-F90BA57E5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1817" y="1370411"/>
            <a:ext cx="8728363" cy="418780"/>
          </a:xfr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400"/>
              <a:t>Back-to-Back Trends</a:t>
            </a:r>
          </a:p>
        </p:txBody>
      </p:sp>
      <p:pic>
        <p:nvPicPr>
          <p:cNvPr id="5" name="Content Placeholder 4" descr="A graph with a red line&#10;&#10;AI-generated content may be incorrect.">
            <a:extLst>
              <a:ext uri="{FF2B5EF4-FFF2-40B4-BE49-F238E27FC236}">
                <a16:creationId xmlns:a16="http://schemas.microsoft.com/office/drawing/2014/main" id="{550F8ECF-70F8-82E5-5BB4-64AD9E100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535" y="1968978"/>
            <a:ext cx="7848928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133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EBD127-8F6B-0021-6A02-8E6C6A6DF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1" y="501345"/>
            <a:ext cx="8728364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/>
              <a:t>Exploratory Data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5FBFD-073A-13D0-A106-B2A829FEB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1821" y="1212692"/>
            <a:ext cx="8728363" cy="41878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1800"/>
              <a:t>Rest Distribution </a:t>
            </a:r>
          </a:p>
        </p:txBody>
      </p:sp>
      <p:pic>
        <p:nvPicPr>
          <p:cNvPr id="5" name="Picture 4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C61F55F7-8208-9C64-D3B1-AA0E09166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8903" y="1782115"/>
            <a:ext cx="7374194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228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3E6F82-836B-858F-ADED-19E9A71A0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EAF28F-1E52-6936-8699-B35824A72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10420" y="649497"/>
            <a:ext cx="8732520" cy="9052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/>
              <a:t>EDA</a:t>
            </a:r>
          </a:p>
        </p:txBody>
      </p:sp>
      <p:pic>
        <p:nvPicPr>
          <p:cNvPr id="10" name="Picture 9" descr="A red rectangular object with white lines&#10;&#10;AI-generated content may be incorrect.">
            <a:extLst>
              <a:ext uri="{FF2B5EF4-FFF2-40B4-BE49-F238E27FC236}">
                <a16:creationId xmlns:a16="http://schemas.microsoft.com/office/drawing/2014/main" id="{74CB905C-8CA2-272C-9356-38C5AAA7FB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439"/>
          <a:stretch>
            <a:fillRect/>
          </a:stretch>
        </p:blipFill>
        <p:spPr>
          <a:xfrm>
            <a:off x="356253" y="2113743"/>
            <a:ext cx="5584873" cy="1481328"/>
          </a:xfrm>
          <a:prstGeom prst="rect">
            <a:avLst/>
          </a:prstGeom>
        </p:spPr>
      </p:pic>
      <p:pic>
        <p:nvPicPr>
          <p:cNvPr id="15" name="Picture 14" descr="A red and white bar chart&#10;&#10;AI-generated content may be incorrect.">
            <a:extLst>
              <a:ext uri="{FF2B5EF4-FFF2-40B4-BE49-F238E27FC236}">
                <a16:creationId xmlns:a16="http://schemas.microsoft.com/office/drawing/2014/main" id="{ABD54084-F822-FC88-DA40-D9E43D5A5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96" y="4115595"/>
            <a:ext cx="5942581" cy="16127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270FF8D-324D-65E2-34E8-5CFF2F30C7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7252" y="611239"/>
            <a:ext cx="4630535" cy="608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704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DA9942F-A18C-9E9D-BF08-9291C54E1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0625D6-D5E3-35B4-3E8D-72A247801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0585" y="321439"/>
            <a:ext cx="6572382" cy="9743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/>
              <a:t>EDA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6AD38-33F5-8A71-D02B-46C6CCD4D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6547" y="6086894"/>
            <a:ext cx="6572382" cy="55808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/>
              <a:t>Using </a:t>
            </a:r>
            <a:r>
              <a:rPr lang="en-US" err="1"/>
              <a:t>plotly</a:t>
            </a:r>
            <a:r>
              <a:rPr lang="en-US"/>
              <a:t> (interactive full-season schedule viewer) </a:t>
            </a:r>
          </a:p>
        </p:txBody>
      </p:sp>
      <p:pic>
        <p:nvPicPr>
          <p:cNvPr id="5" name="Picture 4" descr="A screen shot of a chart&#10;&#10;AI-generated content may be incorrect.">
            <a:extLst>
              <a:ext uri="{FF2B5EF4-FFF2-40B4-BE49-F238E27FC236}">
                <a16:creationId xmlns:a16="http://schemas.microsoft.com/office/drawing/2014/main" id="{440BA8D7-40AB-5A0B-332D-D5192399C1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93"/>
          <a:stretch>
            <a:fillRect/>
          </a:stretch>
        </p:blipFill>
        <p:spPr>
          <a:xfrm>
            <a:off x="2630905" y="1938627"/>
            <a:ext cx="6930189" cy="40634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631663-161F-A05E-44FB-DA124013E891}"/>
              </a:ext>
            </a:extLst>
          </p:cNvPr>
          <p:cNvSpPr txBox="1"/>
          <p:nvPr/>
        </p:nvSpPr>
        <p:spPr>
          <a:xfrm>
            <a:off x="3874168" y="1432522"/>
            <a:ext cx="6930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Dallas Mavericks -  Season Schedule Timeline </a:t>
            </a:r>
          </a:p>
        </p:txBody>
      </p:sp>
    </p:spTree>
    <p:extLst>
      <p:ext uri="{BB962C8B-B14F-4D97-AF65-F5344CB8AC3E}">
        <p14:creationId xmlns:p14="http://schemas.microsoft.com/office/powerpoint/2010/main" val="3174291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F9400-154A-2014-366E-46BA93943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Variables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F3831-54D2-E9B8-F95C-12B1B10942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800" b="1"/>
              <a:t>Schedule Factors:</a:t>
            </a:r>
            <a:endParaRPr lang="en-US" sz="2800"/>
          </a:p>
          <a:p>
            <a:pPr lvl="1"/>
            <a:r>
              <a:rPr lang="en-US" sz="2400" i="1"/>
              <a:t>Travel Distance</a:t>
            </a:r>
            <a:endParaRPr lang="en-US" sz="2400"/>
          </a:p>
          <a:p>
            <a:pPr lvl="1"/>
            <a:r>
              <a:rPr lang="en-US" sz="2400" i="1"/>
              <a:t>Rest Days</a:t>
            </a:r>
            <a:endParaRPr lang="en-US" sz="2400"/>
          </a:p>
          <a:p>
            <a:pPr lvl="1"/>
            <a:r>
              <a:rPr lang="en-US" sz="2400" i="1"/>
              <a:t>Back-to-Back</a:t>
            </a:r>
            <a:r>
              <a:rPr lang="en-US" sz="2400"/>
              <a:t> indicator</a:t>
            </a:r>
          </a:p>
          <a:p>
            <a:pPr lvl="1"/>
            <a:r>
              <a:rPr lang="en-US" sz="2400" i="1"/>
              <a:t>Home / Away</a:t>
            </a:r>
            <a:endParaRPr lang="en-US" sz="2400"/>
          </a:p>
          <a:p>
            <a:pPr lvl="1"/>
            <a:r>
              <a:rPr lang="en-US" sz="2400" i="1"/>
              <a:t>Opponent Strength</a:t>
            </a:r>
            <a:endParaRPr lang="en-US" sz="2400"/>
          </a:p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450184-78C7-5C32-3DC7-3A5C9DC560A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800" b="1"/>
              <a:t>Performance Metrics:</a:t>
            </a:r>
            <a:endParaRPr lang="en-US" sz="2800"/>
          </a:p>
          <a:p>
            <a:pPr lvl="1"/>
            <a:r>
              <a:rPr lang="en-US" sz="2400"/>
              <a:t>FG%, FG3%, FT%</a:t>
            </a:r>
          </a:p>
          <a:p>
            <a:pPr lvl="1"/>
            <a:r>
              <a:rPr lang="en-US" sz="2400"/>
              <a:t>AST, REB, TOV</a:t>
            </a:r>
          </a:p>
          <a:p>
            <a:pPr lvl="1"/>
            <a:r>
              <a:rPr lang="en-US" sz="2400"/>
              <a:t>+/−, Points</a:t>
            </a:r>
          </a:p>
          <a:p>
            <a:pPr lvl="1"/>
            <a:r>
              <a:rPr lang="en-US" sz="2400"/>
              <a:t>Win (binary target)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020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E5473D2-DD46-DFAF-84EC-264D6CE58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A3848E-E444-8785-A7D1-D44D8419F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3394" y="1585762"/>
            <a:ext cx="3788767" cy="28117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Correlation Heatmap </a:t>
            </a:r>
          </a:p>
        </p:txBody>
      </p:sp>
      <p:pic>
        <p:nvPicPr>
          <p:cNvPr id="5" name="Content Placeholder 4" descr="A graph with red squares and black text&#10;&#10;AI-generated content may be incorrect.">
            <a:extLst>
              <a:ext uri="{FF2B5EF4-FFF2-40B4-BE49-F238E27FC236}">
                <a16:creationId xmlns:a16="http://schemas.microsoft.com/office/drawing/2014/main" id="{45187210-3BA5-7AF5-F974-8AD38C0104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24" b="-1"/>
          <a:stretch>
            <a:fillRect/>
          </a:stretch>
        </p:blipFill>
        <p:spPr>
          <a:xfrm>
            <a:off x="475642" y="0"/>
            <a:ext cx="73677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262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20E5F6-554E-1775-B597-9FB573B9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/>
              <a:t>Logistic Regression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39C060-4EB2-B4FC-0B60-6A11E6A6FA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8" y="2584058"/>
            <a:ext cx="4621553" cy="315901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en-US" sz="1800" b="1" dirty="0"/>
          </a:p>
          <a:p>
            <a:r>
              <a:rPr lang="en-US" sz="1800" dirty="0"/>
              <a:t>Performance metrics (FG%, FG3%, REB, TOV) dominate → scheduling variables become insignificant</a:t>
            </a:r>
          </a:p>
          <a:p>
            <a:r>
              <a:rPr lang="en-US" sz="1800" dirty="0"/>
              <a:t>Suggests logistic regression alone cannot generalize well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FFE1ADDD-B090-5E38-58C3-05CAB66214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201" y="1677666"/>
            <a:ext cx="6775687" cy="4065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459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5A14613-C96C-F5FD-0593-24D7C0DA4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8B8C5-6C7F-6BED-8D12-EAC3D9501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35" y="342900"/>
            <a:ext cx="5237576" cy="1527048"/>
          </a:xfrm>
        </p:spPr>
        <p:txBody>
          <a:bodyPr anchor="b">
            <a:normAutofit/>
          </a:bodyPr>
          <a:lstStyle/>
          <a:p>
            <a:r>
              <a:rPr lang="en-US"/>
              <a:t>Diagnostic Plots and VIF Check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21C06F3-6812-66CC-B424-E8E2475D1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136" y="2007108"/>
            <a:ext cx="5237576" cy="45079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Diagnostic Plot Interpretation</a:t>
            </a:r>
            <a:endParaRPr lang="en-US" dirty="0"/>
          </a:p>
          <a:p>
            <a:r>
              <a:rPr lang="en-US" b="1" dirty="0"/>
              <a:t>Q–Q Plot:</a:t>
            </a:r>
            <a:r>
              <a:rPr lang="en-US" dirty="0"/>
              <a:t> Deviations from diagonal → non-normal residuals</a:t>
            </a:r>
          </a:p>
          <a:p>
            <a:pPr marL="0" indent="0">
              <a:buNone/>
            </a:pPr>
            <a:r>
              <a:rPr lang="en-US" b="1" dirty="0"/>
              <a:t>VIF Check</a:t>
            </a:r>
            <a:endParaRPr lang="en-US" dirty="0"/>
          </a:p>
          <a:p>
            <a:r>
              <a:rPr lang="en-US" dirty="0"/>
              <a:t>All VIF values </a:t>
            </a:r>
            <a:r>
              <a:rPr lang="en-US" b="1" dirty="0"/>
              <a:t>&lt; 2</a:t>
            </a:r>
            <a:r>
              <a:rPr lang="en-US" dirty="0"/>
              <a:t>, meaning </a:t>
            </a:r>
            <a:r>
              <a:rPr lang="en-US" b="1" dirty="0"/>
              <a:t>no severe multicollinearity</a:t>
            </a:r>
            <a:endParaRPr lang="en-US" dirty="0"/>
          </a:p>
          <a:p>
            <a:r>
              <a:rPr lang="en-US" dirty="0"/>
              <a:t>Overfitting is NOT due to multicollinearity → caused by model complexity &amp; strong predictors</a:t>
            </a:r>
          </a:p>
          <a:p>
            <a:endParaRPr lang="en-US" sz="1800" dirty="0"/>
          </a:p>
        </p:txBody>
      </p:sp>
      <p:pic>
        <p:nvPicPr>
          <p:cNvPr id="4" name="Content Placeholder 3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DBF40F0B-CB0E-DA7F-9A0D-CEFE44E46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861" y="5174067"/>
            <a:ext cx="5934850" cy="1305667"/>
          </a:xfrm>
          <a:prstGeom prst="rect">
            <a:avLst/>
          </a:prstGeom>
        </p:spPr>
      </p:pic>
      <p:pic>
        <p:nvPicPr>
          <p:cNvPr id="5" name="Picture 4" descr="A collage of graphs and charts&#10;&#10;AI-generated content may be incorrect.">
            <a:extLst>
              <a:ext uri="{FF2B5EF4-FFF2-40B4-BE49-F238E27FC236}">
                <a16:creationId xmlns:a16="http://schemas.microsoft.com/office/drawing/2014/main" id="{A49A12CA-D77B-8D64-70C1-75524B8B49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658" t="1008" r="302"/>
          <a:stretch>
            <a:fillRect/>
          </a:stretch>
        </p:blipFill>
        <p:spPr>
          <a:xfrm>
            <a:off x="6809415" y="1105303"/>
            <a:ext cx="4003741" cy="369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740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866A04-1EBE-7112-C5DC-94FF7E198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47818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/>
              <a:t>Confusion Matrix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CCE69A3-A61E-B024-ADDE-ABEC5B214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Neue Haas Grotesk Text Pro"/>
              </a:rPr>
              <a:t>Accuracy: 0.7879404 </a:t>
            </a:r>
          </a:p>
          <a:p>
            <a:r>
              <a:rPr lang="en-US">
                <a:latin typeface="Neue Haas Grotesk Text Pro"/>
              </a:rPr>
              <a:t>Sensitivity: 0.7915007 </a:t>
            </a:r>
          </a:p>
          <a:p>
            <a:r>
              <a:rPr lang="en-US">
                <a:latin typeface="Neue Haas Grotesk Text Pro"/>
              </a:rPr>
              <a:t>Specificity: 0.7842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26667F7-DE01-C6C3-5CC2-0DCED1C0D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261" y="1626585"/>
            <a:ext cx="5837780" cy="360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934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23A0F-811E-55C3-5E36-361C79E2F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ROC-Curves</a:t>
            </a:r>
          </a:p>
        </p:txBody>
      </p:sp>
      <p:pic>
        <p:nvPicPr>
          <p:cNvPr id="4" name="Content Placeholder 3" descr="A graph of a logistic regression&#10;&#10;AI-generated content may be incorrect.">
            <a:extLst>
              <a:ext uri="{FF2B5EF4-FFF2-40B4-BE49-F238E27FC236}">
                <a16:creationId xmlns:a16="http://schemas.microsoft.com/office/drawing/2014/main" id="{87E73E41-2206-346C-CACD-860B51C0F1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4159" y="1392736"/>
            <a:ext cx="7295444" cy="463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58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83" name="Rectangle 7182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EBB32-C22E-DFC9-9604-D3B0E7156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1977" y="809243"/>
            <a:ext cx="6070493" cy="1480847"/>
          </a:xfrm>
        </p:spPr>
        <p:txBody>
          <a:bodyPr anchor="b">
            <a:normAutofit/>
          </a:bodyPr>
          <a:lstStyle/>
          <a:p>
            <a:r>
              <a:rPr lang="en-US" sz="3300"/>
              <a:t>Why We Used Ridge &amp; Lasso</a:t>
            </a:r>
            <a:br>
              <a:rPr lang="en-US" sz="3300"/>
            </a:br>
            <a:endParaRPr lang="en-US" sz="3300"/>
          </a:p>
        </p:txBody>
      </p:sp>
      <p:pic>
        <p:nvPicPr>
          <p:cNvPr id="7173" name="Picture 5" descr="There are never enough overfitting memes. Please share your own favorite">
            <a:extLst>
              <a:ext uri="{FF2B5EF4-FFF2-40B4-BE49-F238E27FC236}">
                <a16:creationId xmlns:a16="http://schemas.microsoft.com/office/drawing/2014/main" id="{9EC5B1F3-150A-E78D-2914-DB4789025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1941" y="419191"/>
            <a:ext cx="4018095" cy="6019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5FDB1102-CD4E-6557-7687-5569B3A08E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73579" y="2290090"/>
            <a:ext cx="7018421" cy="440837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lvl="1"/>
            <a:r>
              <a:rPr lang="en-US" sz="2000"/>
              <a:t>Checked if Logistic regression is </a:t>
            </a:r>
            <a:r>
              <a:rPr lang="en-US" sz="2000" b="1"/>
              <a:t>overfitting</a:t>
            </a:r>
            <a:r>
              <a:rPr lang="en-US" sz="2000"/>
              <a:t> </a:t>
            </a:r>
            <a:endParaRPr lang="en-US"/>
          </a:p>
          <a:p>
            <a:pPr lvl="1"/>
            <a:r>
              <a:rPr lang="en-US" sz="2000"/>
              <a:t>Many </a:t>
            </a:r>
            <a:r>
              <a:rPr lang="en-US" sz="2000" b="1"/>
              <a:t>correlated performance predictors</a:t>
            </a:r>
            <a:r>
              <a:rPr lang="en-US" sz="2000"/>
              <a:t> (FG%, FG3%, REB, TOV)</a:t>
            </a:r>
          </a:p>
          <a:p>
            <a:pPr lvl="1"/>
            <a:r>
              <a:rPr lang="en-US" sz="2000"/>
              <a:t>Strong box-score stats </a:t>
            </a:r>
            <a:r>
              <a:rPr lang="en-US" sz="2000" b="1"/>
              <a:t>overpowered</a:t>
            </a:r>
            <a:r>
              <a:rPr lang="en-US" sz="2000"/>
              <a:t> schedule-related variables</a:t>
            </a:r>
          </a:p>
          <a:p>
            <a:pPr lvl="1"/>
            <a:r>
              <a:rPr lang="en-US" sz="2000"/>
              <a:t>Diagnostic plots confirmed poor generalization</a:t>
            </a:r>
          </a:p>
          <a:p>
            <a:pPr lvl="1"/>
            <a:r>
              <a:rPr lang="en-US" sz="2000">
                <a:latin typeface="Neue Haas Grotesk Text Pro"/>
              </a:rPr>
              <a:t>Diagnostic plots suggests to try regularization, tree based models (RF/</a:t>
            </a:r>
            <a:r>
              <a:rPr lang="en-US" sz="2000" err="1">
                <a:latin typeface="Neue Haas Grotesk Text Pro"/>
              </a:rPr>
              <a:t>XGBoost</a:t>
            </a:r>
            <a:r>
              <a:rPr lang="en-US" sz="2000">
                <a:latin typeface="Neue Haas Grotesk Text Pro"/>
              </a:rPr>
              <a:t>)</a:t>
            </a:r>
            <a:endParaRPr lang="en-US" sz="2000" b="0" i="0" u="none" strike="noStrike" cap="none" normalizeH="0" baseline="0">
              <a:ln>
                <a:noFill/>
              </a:ln>
              <a:effectLst/>
              <a:latin typeface="Neue Haas Grotesk Text Pro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1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454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A92A98-187D-1D81-86FD-8D40CC69B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8F689-0499-B3E5-02E5-B763C8960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40" y="473829"/>
            <a:ext cx="11294162" cy="117025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Ridge vs Lasso 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A7C6860-75D7-18CD-78A0-F9F0642336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366" y="1778654"/>
            <a:ext cx="5409126" cy="38404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ACB20C-9997-61BF-56EC-B981B2D86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925" y="1778654"/>
            <a:ext cx="5486402" cy="384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498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404126-80EA-016F-5E7E-7CD844B5A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854" y="1114924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/>
              <a:t>Ridge vs Lasso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6145E-0034-487D-0683-F936DFA1A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959" y="2802840"/>
            <a:ext cx="4621553" cy="31590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800" b="1">
                <a:latin typeface="Arial"/>
                <a:cs typeface="Arial"/>
              </a:rPr>
              <a:t>Model Performance </a:t>
            </a:r>
          </a:p>
          <a:p>
            <a:pPr marL="2286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>
                <a:latin typeface="Arial"/>
                <a:cs typeface="Arial"/>
              </a:rPr>
              <a:t>Ridge Accuracy = </a:t>
            </a:r>
            <a:r>
              <a:rPr lang="en-US" altLang="en-US" b="1">
                <a:latin typeface="Arial"/>
                <a:cs typeface="Arial"/>
              </a:rPr>
              <a:t>0.790</a:t>
            </a:r>
            <a:endParaRPr lang="en-US" altLang="en-US">
              <a:latin typeface="Arial"/>
              <a:cs typeface="Arial"/>
            </a:endParaRPr>
          </a:p>
          <a:p>
            <a:pPr marL="2286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>
                <a:latin typeface="Arial"/>
                <a:cs typeface="Arial"/>
              </a:rPr>
              <a:t>Lasso Accuracy = </a:t>
            </a:r>
            <a:r>
              <a:rPr lang="en-US" altLang="en-US" b="1">
                <a:latin typeface="Arial"/>
                <a:cs typeface="Arial"/>
              </a:rPr>
              <a:t>0.788</a:t>
            </a:r>
            <a:endParaRPr lang="en-US" altLang="en-US">
              <a:latin typeface="Arial"/>
              <a:cs typeface="Arial"/>
            </a:endParaRPr>
          </a:p>
          <a:p>
            <a:pPr marL="228600" lvl="1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>
              <a:latin typeface="Arial" panose="020B0604020202020204" pitchFamily="34" charset="0"/>
              <a:cs typeface="Arial"/>
            </a:endParaRPr>
          </a:p>
          <a:p>
            <a:pPr marL="0" indent="0">
              <a:buNone/>
            </a:pPr>
            <a:endParaRPr lang="en-US" sz="1800"/>
          </a:p>
        </p:txBody>
      </p:sp>
      <p:pic>
        <p:nvPicPr>
          <p:cNvPr id="4" name="Picture 3" descr="A graph of a curve&#10;&#10;AI-generated content may be incorrect.">
            <a:extLst>
              <a:ext uri="{FF2B5EF4-FFF2-40B4-BE49-F238E27FC236}">
                <a16:creationId xmlns:a16="http://schemas.microsoft.com/office/drawing/2014/main" id="{C8DCE62D-4E5A-0C65-BA8B-33DD4CBFD6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34" r="2368" b="-2"/>
          <a:stretch>
            <a:fillRect/>
          </a:stretch>
        </p:blipFill>
        <p:spPr>
          <a:xfrm>
            <a:off x="5691261" y="1346370"/>
            <a:ext cx="5837780" cy="416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03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04B8143-3907-5396-F19C-4EDBFE8DE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6FFC40-B1B5-2C5D-3E6E-8131477B7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11019513" cy="1527048"/>
          </a:xfrm>
        </p:spPr>
        <p:txBody>
          <a:bodyPr anchor="b">
            <a:normAutofit/>
          </a:bodyPr>
          <a:lstStyle/>
          <a:p>
            <a:r>
              <a:rPr lang="en-US"/>
              <a:t>Results</a:t>
            </a: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5B6D140D-A850-8CF0-000C-874F9AC919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8" y="2446020"/>
            <a:ext cx="11019514" cy="40965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Shooting efficiency (FG%, FG3%) and rebounding are the strongest predictors of winning.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Home games increase win probability.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Fatigue variables (travel, rest, B2B) have 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smaller effects than expected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once performance stats are included.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Ridge/Lasso handle multicollinearity and improve predictive accuracy.</a:t>
            </a:r>
          </a:p>
        </p:txBody>
      </p:sp>
    </p:spTree>
    <p:extLst>
      <p:ext uri="{BB962C8B-B14F-4D97-AF65-F5344CB8AC3E}">
        <p14:creationId xmlns:p14="http://schemas.microsoft.com/office/powerpoint/2010/main" val="40513645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4" name="Rectangle 9223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EABFF9-3F49-ECCF-155D-55DB7F540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4361686" cy="1527048"/>
          </a:xfrm>
        </p:spPr>
        <p:txBody>
          <a:bodyPr anchor="b">
            <a:normAutofit/>
          </a:bodyPr>
          <a:lstStyle/>
          <a:p>
            <a:r>
              <a:rPr lang="en-US"/>
              <a:t>Limitations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F81E51-EDFA-04F0-8B5C-158925D530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7" y="2212075"/>
            <a:ext cx="5041625" cy="419029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Neue Haas Grotesk Text Pro" panose="020B0504020202020204" pitchFamily="34" charset="77"/>
              </a:rPr>
              <a:t>Opponent strength metric is simplistic (lagged win% only).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Neue Haas Grotesk Text Pro" panose="020B0504020202020204" pitchFamily="34" charset="77"/>
              </a:rPr>
              <a:t>Player-level fatigue/load not available.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Neue Haas Grotesk Text Pro" panose="020B0504020202020204" pitchFamily="34" charset="77"/>
              </a:rPr>
              <a:t>Travel distances assume great-circle distance (not actual flight route).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err="1">
                <a:ln>
                  <a:noFill/>
                </a:ln>
                <a:effectLst/>
                <a:latin typeface="Neue Haas Grotesk Text Pro" panose="020B0504020202020204" pitchFamily="34" charset="77"/>
              </a:rPr>
              <a:t>Multiseason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Neue Haas Grotesk Text Pro" panose="020B0504020202020204" pitchFamily="34" charset="77"/>
              </a:rPr>
              <a:t> effects may require mixed models.</a:t>
            </a:r>
          </a:p>
        </p:txBody>
      </p:sp>
      <p:pic>
        <p:nvPicPr>
          <p:cNvPr id="9219" name="Picture 3" descr="Fantastic Memes About Boundaries and Limits">
            <a:extLst>
              <a:ext uri="{FF2B5EF4-FFF2-40B4-BE49-F238E27FC236}">
                <a16:creationId xmlns:a16="http://schemas.microsoft.com/office/drawing/2014/main" id="{5807F8E2-1CC1-C01A-61D0-88EC9BC2C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9" r="2808"/>
          <a:stretch>
            <a:fillRect/>
          </a:stretch>
        </p:blipFill>
        <p:spPr bwMode="auto">
          <a:xfrm>
            <a:off x="6052847" y="455629"/>
            <a:ext cx="5526505" cy="5946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37148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8" name="Rectangle 10247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F44EC-FA9C-DBF5-2FC6-9C44BCB1D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179755"/>
            <a:ext cx="6245353" cy="1534026"/>
          </a:xfrm>
        </p:spPr>
        <p:txBody>
          <a:bodyPr anchor="b">
            <a:normAutofit/>
          </a:bodyPr>
          <a:lstStyle/>
          <a:p>
            <a:r>
              <a:rPr lang="en-US"/>
              <a:t>Conclusion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99112D-0368-9AF9-81DD-82FEE53FB8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7" y="2030332"/>
            <a:ext cx="8723858" cy="41927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effectLst/>
                <a:latin typeface="Neue Haas Grotesk Text Pro"/>
              </a:rPr>
              <a:t>Travel and rest matter, 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effectLst/>
                <a:ea typeface="+mn-lt"/>
                <a:cs typeface="+mn-lt"/>
              </a:rPr>
              <a:t>but</a:t>
            </a:r>
            <a:r>
              <a:rPr lang="en-US" altLang="en-US" sz="2800">
                <a:ea typeface="+mn-lt"/>
                <a:cs typeface="+mn-lt"/>
              </a:rPr>
              <a:t> 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effectLst/>
                <a:ea typeface="+mn-lt"/>
                <a:cs typeface="+mn-lt"/>
              </a:rPr>
              <a:t>basketball performance metrics </a:t>
            </a:r>
            <a:r>
              <a:rPr lang="en-US" altLang="en-US" sz="2800">
                <a:ea typeface="+mn-lt"/>
                <a:cs typeface="+mn-lt"/>
              </a:rPr>
              <a:t>has a strongest impact on predicting wins.</a:t>
            </a:r>
            <a:endParaRPr lang="en-US">
              <a:latin typeface="Neue Haas Grotesk Text Pro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effectLst/>
                <a:latin typeface="Neue Haas Grotesk Text Pro"/>
              </a:rPr>
              <a:t>Ridge/Lasso produce stable, high-accuracy models</a:t>
            </a:r>
            <a:r>
              <a:rPr lang="en-US" altLang="en-US" sz="2800">
                <a:latin typeface="Neue Haas Grotesk Text Pro"/>
              </a:rPr>
              <a:t> work well with high correlated variables</a:t>
            </a:r>
            <a:endParaRPr lang="en-US" altLang="en-US" sz="2800" b="0" i="0" u="none" strike="noStrike" cap="none" normalizeH="0" baseline="0">
              <a:ln>
                <a:noFill/>
              </a:ln>
              <a:effectLst/>
              <a:latin typeface="Neue Haas Grotesk Text Pro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effectLst/>
                <a:latin typeface="Neue Haas Grotesk Text Pro"/>
              </a:rPr>
              <a:t>Framework can support NBA scheduling research and competitive fairness analysis.</a:t>
            </a:r>
            <a:endParaRPr lang="en-US" altLang="en-US" sz="2800" b="0" i="0" u="none" strike="noStrike" cap="none" normalizeH="0" baseline="0">
              <a:ln>
                <a:noFill/>
              </a:ln>
              <a:effectLst/>
              <a:latin typeface="Neue Haas Grotesk Text Pro"/>
            </a:endParaRPr>
          </a:p>
        </p:txBody>
      </p:sp>
      <p:pic>
        <p:nvPicPr>
          <p:cNvPr id="10249" name="Picture 9" descr="Animated Basketball Gif GIFs | Tenor">
            <a:extLst>
              <a:ext uri="{FF2B5EF4-FFF2-40B4-BE49-F238E27FC236}">
                <a16:creationId xmlns:a16="http://schemas.microsoft.com/office/drawing/2014/main" id="{8A9E176E-A31B-AC01-94DB-F64ADED0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9485" y="297036"/>
            <a:ext cx="2147019" cy="2147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73040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7DC27-9656-93C7-57FB-5B2E354E1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840" y="809599"/>
            <a:ext cx="10653578" cy="1132258"/>
          </a:xfrm>
        </p:spPr>
        <p:txBody>
          <a:bodyPr/>
          <a:lstStyle/>
          <a:p>
            <a:r>
              <a:rPr lang="en-US"/>
              <a:t>Future Work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C4F0D-BCB4-9A16-97B5-E812FFDB6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222" y="1715532"/>
            <a:ext cx="10653579" cy="45938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Expand dataset to include more seasons for stronger long-term patterns.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Add player-level fatigue metrics (minutes, usage rate, injuries).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Incorporate travel direction &amp; time-zone shifts as extra fatigue factors.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Test advanced models (Random Forest, </a:t>
            </a:r>
            <a:r>
              <a:rPr lang="en-US" sz="2400" err="1">
                <a:ea typeface="+mn-lt"/>
                <a:cs typeface="+mn-lt"/>
              </a:rPr>
              <a:t>XGBoost</a:t>
            </a:r>
            <a:r>
              <a:rPr lang="en-US" sz="2400">
                <a:ea typeface="+mn-lt"/>
                <a:cs typeface="+mn-lt"/>
              </a:rPr>
              <a:t>, Mixed-Effects refinements).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Build a fairness index to compare schedule difficulty across teams.</a:t>
            </a:r>
            <a:endParaRPr lang="en-US" sz="24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088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301" name="Rectangle 12300">
            <a:extLst>
              <a:ext uri="{FF2B5EF4-FFF2-40B4-BE49-F238E27FC236}">
                <a16:creationId xmlns:a16="http://schemas.microsoft.com/office/drawing/2014/main" id="{6DA9942F-A18C-9E9D-BF08-9291C54E1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4BE151-1C62-F51D-DE8E-AC7B91251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809" y="353681"/>
            <a:ext cx="6572382" cy="9743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endParaRPr lang="en-US" sz="4000"/>
          </a:p>
        </p:txBody>
      </p:sp>
      <p:pic>
        <p:nvPicPr>
          <p:cNvPr id="12296" name="Picture 8" descr="Thanks You GIFs | Tenor">
            <a:extLst>
              <a:ext uri="{FF2B5EF4-FFF2-40B4-BE49-F238E27FC236}">
                <a16:creationId xmlns:a16="http://schemas.microsoft.com/office/drawing/2014/main" id="{CC76C954-848C-CD52-74B9-E54140B4E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33220" y="-79022"/>
            <a:ext cx="5522731" cy="7384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4875391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775</Words>
  <Application>Microsoft Macintosh PowerPoint</Application>
  <PresentationFormat>Widescreen</PresentationFormat>
  <Paragraphs>114</Paragraphs>
  <Slides>23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Arial</vt:lpstr>
      <vt:lpstr>Neue Haas Grotesk Text Pro</vt:lpstr>
      <vt:lpstr>VanillaVTI</vt:lpstr>
      <vt:lpstr>NBA TEAM PERFORMANCE ANALYSIS </vt:lpstr>
      <vt:lpstr>Background </vt:lpstr>
      <vt:lpstr>Research Question </vt:lpstr>
      <vt:lpstr>Data Overview </vt:lpstr>
      <vt:lpstr>Data Preprocessing </vt:lpstr>
      <vt:lpstr>Exploratory Data Analysis </vt:lpstr>
      <vt:lpstr>Exploratory Data Analysis </vt:lpstr>
      <vt:lpstr>EDA</vt:lpstr>
      <vt:lpstr>EDA </vt:lpstr>
      <vt:lpstr>Key Variables </vt:lpstr>
      <vt:lpstr>Correlation Heatmap </vt:lpstr>
      <vt:lpstr>Logistic Regression</vt:lpstr>
      <vt:lpstr>Diagnostic Plots and VIF Check </vt:lpstr>
      <vt:lpstr>Confusion Matrix</vt:lpstr>
      <vt:lpstr>ROC-Curves</vt:lpstr>
      <vt:lpstr>Why We Used Ridge &amp; Lasso </vt:lpstr>
      <vt:lpstr>Ridge vs Lasso </vt:lpstr>
      <vt:lpstr>Ridge vs Lasso </vt:lpstr>
      <vt:lpstr>Results</vt:lpstr>
      <vt:lpstr>Limitations</vt:lpstr>
      <vt:lpstr>Conclusion </vt:lpstr>
      <vt:lpstr>Future Work 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Trinh, Phuong Le Thien</dc:creator>
  <cp:lastModifiedBy>Trinh, Phuong Le Thien</cp:lastModifiedBy>
  <cp:revision>4</cp:revision>
  <dcterms:created xsi:type="dcterms:W3CDTF">2025-12-06T00:18:49Z</dcterms:created>
  <dcterms:modified xsi:type="dcterms:W3CDTF">2025-12-26T23:12:19Z</dcterms:modified>
</cp:coreProperties>
</file>